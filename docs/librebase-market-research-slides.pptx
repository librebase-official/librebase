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371600" y="-914400"/>
            <a:ext cx="4114800" cy="4114800"/>
          </a:xfrm>
          <a:prstGeom prst="round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5486400" cy="5486400"/>
          </a:xfrm>
          <a:prstGeom prst="round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37360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79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424159" y="0"/>
            <a:ext cx="4572" cy="6858000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4572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737360"/>
            <a:ext cx="12191695" cy="4572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474720"/>
            <a:ext cx="12191695" cy="4572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212079"/>
            <a:ext cx="12191695" cy="4572"/>
          </a:xfrm>
          <a:prstGeom prst="rect">
            <a:avLst/>
          </a:prstGeom>
          <a:solidFill>
            <a:srgbClr val="E7F2EC">
              <a:alpha val="1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097280"/>
            <a:ext cx="138988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279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Libre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5326" y="1097280"/>
            <a:ext cx="781812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279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8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Market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743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80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Sample Library &amp; AI Music Tools Landscape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2286000" cy="36576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200"/>
              </a:spcAft>
              <a:defRPr sz="100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INTERNAL RESEARCH BRIEF  •  FOR SALES USE ONLY</a:t>
            </a:r>
          </a:p>
          <a:p>
            <a:pPr algn="l">
              <a:lnSpc>
                <a:spcPct val="160000"/>
              </a:lnSpc>
              <a:spcAft>
                <a:spcPts val="200"/>
              </a:spcAft>
              <a:defRPr sz="100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Prepared for: Sales Representative — Internal Use  |  Date: August 16–18, 2026</a:t>
            </a:r>
          </a:p>
          <a:p>
            <a:pPr algn="l">
              <a:lnSpc>
                <a:spcPct val="160000"/>
              </a:lnSpc>
              <a:spcAft>
                <a:spcPts val="200"/>
              </a:spcAft>
              <a:defRPr sz="100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Classification: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librebase.xyz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868680"/>
            <a:ext cx="5303520" cy="2743200"/>
          </a:xfrm>
          <a:prstGeom prst="roundRect">
            <a:avLst/>
          </a:prstGeom>
          <a:solidFill>
            <a:srgbClr val="0E1A1C"/>
          </a:solidFill>
          <a:ln w="1270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868680"/>
            <a:ext cx="5303520" cy="32004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89611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1" i="0">
                <a:solidFill>
                  <a:srgbClr val="071014"/>
                </a:solidFill>
                <a:latin typeface="/Users/julian/Downloads/librebase-fonts/Orbitron.ttf"/>
              </a:defRPr>
            </a:pPr>
            <a:r>
              <a:t>THE ONE-LINE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261872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The sample market is $1.8B and growing at 8.9–9.5% CAGR.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(22% share, 6M+ users) dominates volume;</a:t>
            </a: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Loopcloud owns DAW integration; Tracklib monopolises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legal clearance. But every incumbent charges subscription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rents that producers hate, hides quality behind credit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systems, and lacks any all-in-one AI-native workflow.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</a:p>
          <a:p>
            <a:pPr algn="l">
              <a:lnSpc>
                <a:spcPct val="135000"/>
              </a:lnSpc>
              <a:spcAft>
                <a:spcPts val="200"/>
              </a:spcAft>
              <a:defRPr sz="110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The gap is real — and wide.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8686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8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Why This Matters for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472184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380744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Mid-market is underserved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18488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Enterprise tools (Sphera, Enablon) cost six figures; consumer subs ($8–40/mo) feel predatory. The $150–300 'professional-lite' tier is empty.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615184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523744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AI is the wedge, not the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61488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Every competitor's AI is bolted-on and mediocre. The gap: unify generation + separation + editing + MIDI in one plugin.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758183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66744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Perpetual ownership = emotional 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04487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'Cancel = lose everything' is #1 pain point across Splice, Loopcloud, Output, EastWest. A hybrid ownership model is unclaimed.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901183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809744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Consolidation breeds vulnerability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047488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owns Spitfire, Output, Sample Magic. Users are anxious; a vendor-neutral, open platform is a natural trust alternative.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Market Snapshot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914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9144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914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SALES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143000"/>
            <a:ext cx="1115568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234440"/>
            <a:ext cx="11155680" cy="475488"/>
          </a:xfrm>
          <a:prstGeom prst="roundRect">
            <a:avLst/>
          </a:prstGeom>
          <a:solidFill>
            <a:srgbClr val="0E1A1C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28930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Market size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28930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$1.8B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289304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Large enough to matter; not saturated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737360"/>
            <a:ext cx="11155680" cy="475488"/>
          </a:xfrm>
          <a:prstGeom prst="roundRect">
            <a:avLst/>
          </a:prstGeom>
          <a:solidFill>
            <a:srgbClr val="0A1518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179222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Projected (2034)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79222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$3.9–4.6B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1792224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~9% CAGR — sustained growth, not a bubble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240280"/>
            <a:ext cx="11155680" cy="475488"/>
          </a:xfrm>
          <a:prstGeom prst="roundRect">
            <a:avLst/>
          </a:prstGeom>
          <a:solidFill>
            <a:srgbClr val="0E1A1C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29514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market share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29514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~22%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295144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Leading, but not a monopoly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743200"/>
            <a:ext cx="11155680" cy="475488"/>
          </a:xfrm>
          <a:prstGeom prst="roundRect">
            <a:avLst/>
          </a:prstGeom>
          <a:solidFill>
            <a:srgbClr val="0A1518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279806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registered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79806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6M+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798064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Huge installed base — churn opportunity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246120"/>
            <a:ext cx="11155680" cy="475488"/>
          </a:xfrm>
          <a:prstGeom prst="roundRect">
            <a:avLst/>
          </a:prstGeom>
          <a:solidFill>
            <a:srgbClr val="0E1A1C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300984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2024 downloads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30098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~350M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3300984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Scale, but 'generic' quality complaints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749039"/>
            <a:ext cx="11155680" cy="475488"/>
          </a:xfrm>
          <a:prstGeom prst="roundRect">
            <a:avLst/>
          </a:prstGeom>
          <a:solidFill>
            <a:srgbClr val="0A1518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803903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Spotify-for-samples sentiment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803903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Broken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3803903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Ownership is the untapped wedge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251959"/>
            <a:ext cx="11155680" cy="475488"/>
          </a:xfrm>
          <a:prstGeom prst="roundRect">
            <a:avLst/>
          </a:prstGeom>
          <a:solidFill>
            <a:srgbClr val="0E1A1C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306823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AI sample gen market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306823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Fragmented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306823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No dominant all-in-one — white space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754879"/>
            <a:ext cx="11155680" cy="475488"/>
          </a:xfrm>
          <a:prstGeom prst="roundRect">
            <a:avLst/>
          </a:prstGeom>
          <a:solidFill>
            <a:srgbClr val="0A1518"/>
          </a:solidFill>
          <a:ln w="635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4809743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SDS/Compliance adj. market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809743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9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$1.34B → $2.49B (14% CAGR)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4809743"/>
            <a:ext cx="5577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Parallel vertical, same open-data angle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Competitive Landscape — Subscription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868680"/>
            <a:ext cx="3566160" cy="566928"/>
          </a:xfrm>
          <a:prstGeom prst="round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8869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400" b="1" i="0">
                <a:solidFill>
                  <a:srgbClr val="071014"/>
                </a:solidFill>
                <a:latin typeface="/Users/julian/Downloads/librebase-fonts/Orbitron.ttf"/>
              </a:defRPr>
            </a:pPr>
            <a:r>
              <a:t>Splice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124712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0" i="0">
                <a:solidFill>
                  <a:srgbClr val="071014"/>
                </a:solidFill>
                <a:latin typeface="/Users/julian/Downloads/librebase-fonts/SpaceGrotesk.ttf"/>
              </a:defRPr>
            </a:pPr>
            <a:r>
              <a:t>The Incumbent Leader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57276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7465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3–4M+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03911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212848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Sounds+ $12.99/mo | Creator $19.99/mo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368296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Creator+ $39.99/mo | Annual promo: $120/yr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60903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34639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Largest library, brand recognition, AI search,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90087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Rent-to-Own, Splice Studio. Acquired Spitfire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45535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($50M) + Output + Sample Magic — consolidation 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38143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Weaknesses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79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Credit system restrictive; price hikes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67327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(Sounds 1000 → $34.99/mo); lose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22775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on cancel; credits expire. 80% 'generic'.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868680"/>
            <a:ext cx="3566160" cy="566928"/>
          </a:xfrm>
          <a:prstGeom prst="round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8869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400" b="1" i="0">
                <a:solidFill>
                  <a:srgbClr val="071014"/>
                </a:solidFill>
                <a:latin typeface="/Users/julian/Downloads/librebase-fonts/Orbitron.ttf"/>
              </a:defRPr>
            </a:pPr>
            <a:r>
              <a:t>Loopcloud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1124712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0" i="0">
                <a:solidFill>
                  <a:srgbClr val="071014"/>
                </a:solidFill>
                <a:latin typeface="/Users/julian/Downloads/librebase-fonts/SpaceGrotesk.ttf"/>
              </a:defRPr>
            </a:pPr>
            <a:r>
              <a:t>DAW Integration Leader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157276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17465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4M+ samples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03911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Pricing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212848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Artist $7.99/mo | Studio $11.99/mo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2368296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(most popular) | Professional tier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2660903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Strengths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2834639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Deepest DAW integration (VST/AAX/AU),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2990087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no credit limits (points-based packs),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145535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best for house/techno, cloud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300983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(10–50GB+), AI browsing, time-stretch in-plugin.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593591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Weaknesses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3767327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Internet required for cloud features;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3922775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plugin learning curve;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078223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library overlap with Splice.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868680"/>
            <a:ext cx="3566160" cy="566928"/>
          </a:xfrm>
          <a:prstGeom prst="round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88696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400" b="1" i="0">
                <a:solidFill>
                  <a:srgbClr val="1A1A1A"/>
                </a:solidFill>
                <a:latin typeface="/Users/julian/Downloads/librebase-fonts/Orbitron.ttf"/>
              </a:defRPr>
            </a:pPr>
            <a:r>
              <a:t>Tracklib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124712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0" i="0">
                <a:solidFill>
                  <a:srgbClr val="3A3A3A"/>
                </a:solidFill>
                <a:latin typeface="/Users/julian/Downloads/librebase-fonts/SpaceGrotesk.ttf"/>
              </a:defRPr>
            </a:pPr>
            <a:r>
              <a:t>Legal Clearance Monopoly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57276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E8A838"/>
                </a:solidFill>
                <a:latin typeface="/Users/julian/Downloads/librebase-fonts/Orbitron.ttf"/>
              </a:defRPr>
            </a:pPr>
            <a:r>
              <a:t>Library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1746504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Original songs (not royalty-free loops)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039112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E8A838"/>
                </a:solidFill>
                <a:latin typeface="/Users/julian/Downloads/librebase-fonts/Orbitron.ttf"/>
              </a:defRPr>
            </a:pPr>
            <a:r>
              <a:t>Pricing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212848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Lite $8.99/mo | Premium $13.99/mo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368296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Max $19.99/mo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660903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E8A838"/>
                </a:solidFill>
                <a:latin typeface="/Users/julian/Downloads/librebase-fonts/Orbitron.ttf"/>
              </a:defRPr>
            </a:pPr>
            <a:r>
              <a:t>Strengths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834639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One-of-a-kind — real records legally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990087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sampleable; used by Kendrick Lamar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145535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producers; no upfront fees;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300983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drag-to-DAW desktop app.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3593591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E8A838"/>
                </a:solidFill>
                <a:latin typeface="/Users/julian/Downloads/librebase-fonts/Orbitron.ttf"/>
              </a:defRPr>
            </a:pPr>
            <a:r>
              <a:t>Weaknesses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767327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No free account; Trustpilot 2.0/5;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922775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confusing tier structure (A/B/C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078223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clearance); limited royalty-free genres.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The Rest of the Market + AI Quality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OTHER PLAYERS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87552"/>
            <a:ext cx="109728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07899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07899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07899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07899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Watch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261872"/>
            <a:ext cx="5074920" cy="9144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1298448"/>
            <a:ext cx="5074920" cy="24688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31673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Noiiz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131673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Unlimited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131673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$5–$10/mo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316736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Small lib; Tp 2.2/5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563624"/>
            <a:ext cx="5074920" cy="24688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158191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BandLab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" y="158191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158191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Free/$8–$16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58191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Dark horse — Gen Z pull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828800"/>
            <a:ext cx="5074920" cy="24688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84708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Output Arcade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38528" y="184708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Sampler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184708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$9.99–$12.99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184708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Sub-only; Splice-owned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093976"/>
            <a:ext cx="5074920" cy="24688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211226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Output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2112264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Full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211226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$14.99/mo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211226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Locked ecosystem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2359152"/>
            <a:ext cx="5074920" cy="24688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237744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LANDR Studio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38528" y="2377440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Bundled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237744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$8.25–$19.99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237744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Samples + mastering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2624328"/>
            <a:ext cx="5074920" cy="24688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2642616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Sample Focus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38528" y="264261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Community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71800" y="2642616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Free/Premium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2642616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Community-curated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2889504"/>
            <a:ext cx="5074920" cy="24688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290779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NI Sounds.com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38528" y="2907792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Sound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71800" y="290779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$9.99/mo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290779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Ambient/experimental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3154680"/>
            <a:ext cx="5074920" cy="24688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17296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Waves ILLUGEN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38528" y="317296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Text-to-sound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71800" y="3172968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One-time/sub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17296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MusicTech rated 5/10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749808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AI TOOLS — FEATURE MATRIX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97880" y="987552"/>
            <a:ext cx="164592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97880" y="107899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Tool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0" y="10789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1078992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0" y="107899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A2MIDI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107899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Edit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15400" y="107899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Plugin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107899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Price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97880" y="1261872"/>
            <a:ext cx="4297679" cy="9144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897880" y="1298448"/>
            <a:ext cx="4297679" cy="219456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16168" y="1307592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Samplab (RIP)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42048" y="1307592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07808" y="1307592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73568" y="1307592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76488" y="1307592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33688" y="1307592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VST3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28048" y="1307592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$12/mo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97880" y="1536192"/>
            <a:ext cx="4297679" cy="219456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16168" y="1545336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RipX DAW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42048" y="1545336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07808" y="1545336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73568" y="1545336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76488" y="1545336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33688" y="1545336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Std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28048" y="1545336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$60–$149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897880" y="1773936"/>
            <a:ext cx="4297679" cy="219456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16168" y="1783080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Waves ILLUGEN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42048" y="1783080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07808" y="1783080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73568" y="1783080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76488" y="1783080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33688" y="1783080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Std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528048" y="1783080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$8–$20/mo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897880" y="2011680"/>
            <a:ext cx="4297679" cy="219456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6168" y="2020824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Text-to-Sample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42048" y="2020824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07808" y="2020824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73568" y="2020824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76488" y="202082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33688" y="2020824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VST3/AU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28048" y="2020824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Pay/use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897880" y="2249424"/>
            <a:ext cx="4297679" cy="219456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16168" y="2258568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Magenta (Google)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42048" y="2258568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07808" y="2258568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73568" y="2258568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76488" y="2258568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33688" y="2258568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Open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28048" y="2258568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Free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897880" y="2487168"/>
            <a:ext cx="4297679" cy="219456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916168" y="2496311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Create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242048" y="2496311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07808" y="2496311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73568" y="2496311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76488" y="2496311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33688" y="2496311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Web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28048" y="2496311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$13/mo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897880" y="2724911"/>
            <a:ext cx="4297679" cy="219456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16168" y="2734055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Loudly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42048" y="2734055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07808" y="2734055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73568" y="2734055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76488" y="2734055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33688" y="2734055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Web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28048" y="2734055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Freemium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897880" y="2962655"/>
            <a:ext cx="4297679" cy="219456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916168" y="2971799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NeuralNote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42048" y="2971799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07808" y="2971799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973568" y="2971799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476488" y="2971799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33688" y="2971799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VST3/AU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528048" y="2971799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Free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897880" y="3200399"/>
            <a:ext cx="4297679" cy="219456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16168" y="3209543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Emergence Audio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242048" y="3209543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607808" y="3209543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73568" y="3209543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476488" y="3209543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933688" y="3209543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Kontakt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528048" y="3209543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$29–$1,299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897880" y="3438143"/>
            <a:ext cx="4297679" cy="219456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916168" y="3447287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Adobe Podcast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242048" y="3447287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607808" y="3447287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73568" y="3447287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76488" y="3447287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933688" y="3447287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528048" y="3447287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Free/Prem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897880" y="3675887"/>
            <a:ext cx="4297679" cy="219456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916168" y="3685031"/>
            <a:ext cx="12893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BandLab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242048" y="3685031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✓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607808" y="3685031"/>
            <a:ext cx="3291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73568" y="3685031"/>
            <a:ext cx="466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476488" y="3685031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6B7280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933688" y="3685031"/>
            <a:ext cx="55778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Web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528048" y="3685031"/>
            <a:ext cx="6492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  <a:defRPr sz="7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Free/$8–16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AI Tools — Primary Players &amp;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932688"/>
            <a:ext cx="73152" cy="64008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868680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Samplab — SHUTTING DOWN Sept 17,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07899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Polyphonic audio-to-MIDI, stem separation, chord detection, note-level editing, TextToSample. Only tool doing note-level editing inside polyphonic audio seamlessly. No successor. Gap left behind: biggest hole in the market.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18488"/>
            <a:ext cx="73152" cy="64008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554480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Waves ILLUGEN — Text-to-Sound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76479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Text → one-shots, loops, SFX. Standalone desktop app only (no plugin). Credit-based. New; MusicTech rated 5/10. Quality concerns.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04288"/>
            <a:ext cx="73152" cy="64008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240280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Text-to-Sample.com — New Entrant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45059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Text → audio (5–30s). Web + VST3/AU plugin. Credit-based, pay-as-you-go. No vocals. Short max length. Unproven.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90088"/>
            <a:ext cx="73152" cy="64008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926080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Splice Create — April 2026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13639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Three generative AI tools for reshaping Splice library sounds. Text-to-sample within Splice ecosystem. Credit-locked. Quality unproven.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75887"/>
            <a:ext cx="73152" cy="64008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611880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Google Magenta — Open Source, Free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822191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Magenta RealTime 2 (800M param transformer, 190k hrs stock music, June 2025). Magenta Studio for Ableton. DDSP-VST, NSynth. Requires technical setup. Research-grade.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61688"/>
            <a:ext cx="73152" cy="640080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97680"/>
            <a:ext cx="11155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1FA89A"/>
                </a:solidFill>
                <a:latin typeface="/Users/julian/Downloads/librebase-fonts/Orbitron.ttf"/>
              </a:defRPr>
            </a:pPr>
            <a:r>
              <a:t>RipX DAW — Samplab Replacement (Partial)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507992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6+ stem AI separation, note-level extraction/editing, instrument replacement. One-time purchase ($60–$149). Steep learning curve. Not a generator — separation + editing only.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084064"/>
            <a:ext cx="11155680" cy="502920"/>
          </a:xfrm>
          <a:prstGeom prst="roundRect">
            <a:avLst/>
          </a:prstGeom>
          <a:solidFill>
            <a:srgbClr val="0E1A1C"/>
          </a:solidFill>
          <a:ln w="12700">
            <a:solidFill>
              <a:srgbClr val="2F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10235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KEY GAPS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Polyphonic note editing void  |  No all-in-one tool  |  AI vocals underdeveloped  |  Real-time tools absent  |  Plugin integration gap  |  Orchestral/world instruments poor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Traditional Sample Library Competitors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94944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Market: Orchestral, cinematic, traditional libraries  |  ~$1.8B (2025) → $3.9B by 2034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9611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Competitor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89611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Premium Anchor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89611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Subscription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89611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Free 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89611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DRM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896112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Core Pain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078992"/>
            <a:ext cx="7315200" cy="9144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1115568"/>
            <a:ext cx="7315200" cy="27432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1133856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Spitfire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1133856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BBC SO Pro €999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1133856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LABS+ £12.99/mo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2232" y="1133856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LABS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1133856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2" y="1133856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Expensive; Splice fears; bugs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408176"/>
            <a:ext cx="7315200" cy="274320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1426464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Native Instruments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1426464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Komplete Ult. $1,799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1426464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42232" y="1426464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1426464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iLok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2" y="1426464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Dongle hatred; insolvency rumors; heavy CPU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1700784"/>
            <a:ext cx="7315200" cy="27432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1719072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19072" y="1719072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1719072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Arcade $12.99/mo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1719072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6632" y="1719072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42432" y="1719072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Sub-only; trust (Splice-owned); mixed 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993392"/>
            <a:ext cx="7315200" cy="274320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2011680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Heavyocity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19072" y="2011680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NOVO/Damage $399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2011680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2011680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56632" y="2011680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Kontakt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432" y="2011680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Niche; expensive; Kontakt dep.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2286000"/>
            <a:ext cx="7315200" cy="27432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2304288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Cinesamples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19072" y="2304288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Musio $299–$399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9232" y="2304288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Musio $9.99/mo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42232" y="2304288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56632" y="2304288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Musio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42432" y="2304288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'Too good to be true'; player quality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2578608"/>
            <a:ext cx="7315200" cy="274320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2596896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8Dio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19072" y="2596896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Adagio $499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99232" y="2596896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42232" y="2596896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56632" y="2596896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Kontakt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42432" y="2596896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QC issues; Trustpilot 3.1/8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2871215"/>
            <a:ext cx="7315200" cy="27432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2889503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Embertone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19072" y="2889503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Joshua Bell $199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9232" y="2889503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42232" y="2889503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56632" y="2889503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Kontakt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42432" y="2889503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Niche (solo); small catalog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3163823"/>
            <a:ext cx="7315200" cy="274320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352" y="3182111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Orch. Tools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19072" y="3182111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Berlin Max €1,399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99232" y="3182111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42232" y="3182111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Berlin Free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56632" y="3182111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42432" y="3182111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Very expensive; bugs; no Linux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02920" y="3456431"/>
            <a:ext cx="7315200" cy="27432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" y="3474719"/>
            <a:ext cx="11338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EastWest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19072" y="3474719"/>
            <a:ext cx="122529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99232" y="3474719"/>
            <a:ext cx="10881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ComposerCloud $19.99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42232" y="3474719"/>
            <a:ext cx="8595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56632" y="3474719"/>
            <a:ext cx="63093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Install ctr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42432" y="3474719"/>
            <a:ext cx="2048255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Worst portal software; sub fatigue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Industry Pain Points — The Sales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905256"/>
            <a:ext cx="54864" cy="65836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841247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1. The 'Rental'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033271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Cancel subscription → lose access to downloaded samples. Credits expire on cancellation. No perpetual ownership in most subscriptions.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33271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Sales angle: 'You keep what you download — forever.' Ownership as differentiator.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655064"/>
            <a:ext cx="54864" cy="65836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591056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2. Credit/Point System Frustration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7830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Artificial currency obscures real cost; feels predatory. Hard to know cost-per-sample. Unused credits create anxiety (use-it-or-lose-it).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Sales angle: Transparent pricing. No credits. Know what you pay.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04872"/>
            <a:ext cx="54864" cy="65836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340864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3. Discovery &amp; Quality Inconsistency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3288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80% of Splice samples criticised as generic. Poor metadata/tempo-key tagging on one-shots. Genre gaps: world music, non-Western instruments, niche genres.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328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Sales angle: Curated quality over volume. Better metadata. Genre depth.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154679"/>
            <a:ext cx="54864" cy="65836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9067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4. Technical Pain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28269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Missing samples when collaborating (Splice). DAW integration clunky (Splice) vs seamless (Loopcloud). Always-on internet required for cloud. Desktop apps resource-heavy.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82696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Sales angle: Offline-first. DAW-native plugin. No cloud dependency.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904487"/>
            <a:ext cx="54864" cy="65836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840479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5. Pricing &amp; Value Fatigue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032503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Multiple subscriptions add up ($10–40/mo each). Price hikes (Splice Sounds 1000 → $34.99/mo). Hard to justify for hobbyists. Annual commitments feel risky.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32503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Sales angle: One subscription. Flat pricing. No per-user tax.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654296"/>
            <a:ext cx="54864" cy="658368"/>
          </a:xfrm>
          <a:prstGeom prst="rect">
            <a:avLst/>
          </a:prstGeom>
          <a:solidFill>
            <a:srgbClr val="E8A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9028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6. Creator/Artist Compensation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8231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Producers report low per-download payouts on Splice. No transparency in royalty structures.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7823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Sales angle: Transparent per-download payouts. Creator profiles. Tip jars.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Market Gaps &amp;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905256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841247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Compressed/AI-Assisted Libraries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014983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Pro sound without 100GB+ per library. AI-assisted sample generation could reduce size 10–50×. No player leadership in this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563624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499616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Perpetual-Friendly Subscription 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673351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Spitfire's Splice rent-to-own is a start. Users want 'own after X payments' model. No major player offers true rent-to-own for all libraries.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21991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157984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Playerless/Web-Based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331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iLok + proprietary players = friction. Web-based auth or simple license key. Cross-platform (Linux underserved — zero major library supports it).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80359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16351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Transparent Mid-Tier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90087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Gap between $30–50 singles and $500–1000 orchestras. $150–300 'professional lite' tier underserved. Cinesamples Musio ($199–399) closest but quality questioned.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38727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474719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All-in-One Subscription with Ownership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48455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ComposerCloud $19.99/mo is good value but no ownership. Users want 'subscribe 24 months, own forever' option. Output One $14.99/mo has same criticism.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97095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133087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Stability &amp; Performance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06823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SINE player bugs, Kontakt crashes are common complaints. 'Just works' positioning could win market share. Compressed libraries = less RAM/CPU strain.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55463"/>
            <a:ext cx="54864" cy="5486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791455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5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Linux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965191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8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Zero major sample library supports Linux. Clear niche for someone to 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Strategic Positioning — Where LibreBase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841248"/>
            <a:ext cx="11155680" cy="914400"/>
          </a:xfrm>
          <a:prstGeom prst="roundRect">
            <a:avLst/>
          </a:prstGeom>
          <a:solidFill>
            <a:srgbClr val="0E1A1C"/>
          </a:solidFill>
          <a:ln w="12700">
            <a:solidFill>
              <a:srgbClr val="2F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859536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THE OPEN-KNOWLEDGE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07899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  <a:defRPr sz="10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LibreBase's core thesis — knowledge should be findable, attributable, and freely reusable — maps directly onto every pain point above: No lock-in, full attribution, open metadata, perpetual access. Download and own. Cancel and keep.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CONCRETE SALES POSITIONS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39696"/>
            <a:ext cx="137160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240280"/>
            <a:ext cx="11155680" cy="33832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5856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Open platform vs. Splice walled garden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5856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owns Spitfire, Output, Sample Magic. LibreBase is vendor-neutral: your data, your formats, your choice.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96896"/>
            <a:ext cx="11155680" cy="33832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1518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Perpetual ownership vs. rental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1518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Cancel Splice and you lose 3–4M samples. With LibreBase, what you acquire is yours — no rental, no credit expiry.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53512"/>
            <a:ext cx="11155680" cy="33832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718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Transparent pricing vs. credit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971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Splice's credit model obscures real cost. LibreBase uses flat, predictable pricing — no artificial currency, no use-it-or-lose-it.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10128"/>
            <a:ext cx="11155680" cy="33832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32841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AI-native vs. bolt-on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2841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Create is AI bolted onto a library. LibreBase's open approach means generation + separation + editing + MIDI in one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666744"/>
            <a:ext cx="11155680" cy="33832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6850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No DRM vs. iLok / SINE / Kontakt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68503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iLok is universally hated. SINE crashes. Kontakt eats RAM. LibreBase: no dongles, no proprietary players, no Linux exclusion.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023360"/>
            <a:ext cx="11155680" cy="33832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041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Mid-market focus vs. enterprise blanks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0416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Sphera / Enablon cost six figures. Consumer subs feel predatory. LibreBase targets the $150–300 professional-lite gap nobody fills.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379976"/>
            <a:ext cx="11155680" cy="338328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39826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Linux support as wedge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3982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Zero major sample library supports Linux. LibreBase does — own a niche nobody else touches.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36592"/>
            <a:ext cx="11155680" cy="338328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754879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1" i="0">
                <a:solidFill>
                  <a:srgbClr val="2FD4C2"/>
                </a:solidFill>
                <a:latin typeface="/Users/julian/Downloads/librebase-fonts/SpaceGrotesk.ttf"/>
              </a:defRPr>
            </a:pPr>
            <a:r>
              <a:t>Creator economy vs. black-box royalties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754879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8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producers report low payouts with no transparency. LibreBase makes attribution and compensation visible by default.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Key Numbers &amp; Top Objections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KEY NUMBERS TO QUOTE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87552"/>
            <a:ext cx="118872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115568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06070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$1.8B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06070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Current sample library market 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499616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144475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8.9–9.5%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444751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Sustained growth through 2034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883664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182880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22%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18288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market share (leader, not monopoly)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67712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21284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6M+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22128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registered users (churn opportunity)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51760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5968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$34.99/mo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596896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Sounds 1000 (price hike flashpoint)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035808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980944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Trustpilot 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29809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4.3 | Output 3.7 | EastWest 3.4 | 8Dio 3.1 | Heavyocity 2.5 | Tracklib 2.0 | Noiiz 2.2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419856"/>
            <a:ext cx="73152" cy="292608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36499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2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Sept 17,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364991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9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Samplab shutdown — leaves polyphonic note-editing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74980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TOP 5 OBJECTIONS &amp; RESPONSES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987552"/>
            <a:ext cx="201168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89320" y="1078992"/>
            <a:ext cx="5715000" cy="59436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1106424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'Splice has the biggest library'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1280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Yes — 3–4M+ samples, 22% share. But 80% call them generic, credits expire, cancel means losing everything. We offer ownership + curation.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1719072"/>
            <a:ext cx="5715000" cy="594360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08192" y="1746504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'Loopcloud integrates with my DAW'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8192" y="19202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Loopcloud's plugin is strong, but cloud-dependent and points-based. We're DAW-native, offline-capable, flat-priced — no credit maths.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9320" y="2359152"/>
            <a:ext cx="5715000" cy="59436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2386584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'I've paid for Kontakt libraries'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08192" y="2560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Kontakt's iLok DRM is the #1 industry complaint. We're playerless — no dongles, no proprietary lock-in. Your libraries stay yours.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2999232"/>
            <a:ext cx="5715000" cy="594360"/>
          </a:xfrm>
          <a:prstGeom prst="roundRect">
            <a:avLst/>
          </a:prstGeom>
          <a:solidFill>
            <a:srgbClr val="0A1518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026664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'AI sample gen is gimmicky'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3200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ILLUGEN scored 5/10. Splice Create is unproven. But Samplab's shutdown left a real gap — the market wants generation + editing in one tool.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89320" y="3639312"/>
            <a:ext cx="5715000" cy="594360"/>
          </a:xfrm>
          <a:prstGeom prst="roundRect">
            <a:avLst/>
          </a:prstGeom>
          <a:solidFill>
            <a:srgbClr val="0E1A1C"/>
          </a:solidFill>
          <a:ln w="3810">
            <a:solidFill>
              <a:srgbClr val="2D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08192" y="3666744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85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'Enterprise tools are more trustworthy'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08192" y="384048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75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Sphera / Enablon cost $16K–$100K+ and are overkill under $500M revenue. Mid-market is underserved. We're built for AI-powered review without enterprise tax.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2400" b="1" i="0">
                <a:solidFill>
                  <a:srgbClr val="E7F2EC"/>
                </a:solidFill>
                <a:latin typeface="/Users/julian/Downloads/librebase-fonts/Orbitron.ttf"/>
              </a:defRPr>
            </a:pPr>
            <a:r>
              <a:t>Signals to Monitor &amp; 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8368"/>
            <a:ext cx="3200400" cy="27432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0" y="651052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80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18288"/>
          </a:xfrm>
          <a:prstGeom prst="rect">
            <a:avLst/>
          </a:prstGeom>
          <a:solidFill>
            <a:srgbClr val="2D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LibreBase  •  librebase.xyz  |  Confidential — Internal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40000"/>
              </a:lnSpc>
              <a:spcAft>
                <a:spcPts val="0"/>
              </a:spcAft>
              <a:defRPr sz="750" b="0" i="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74980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SIGNALS TO 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987552"/>
            <a:ext cx="1188720" cy="18288"/>
          </a:xfrm>
          <a:prstGeom prst="rect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115568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07899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Splice price trajectory post-Spitfire / Output acquisitions — user churn sentiment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389888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35331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BandLab's free-tier growth — Gen Z creator pull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664208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62763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Any Google productisation of Magenta RealTime 2 — free AI undercutting paid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938528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190195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Text-to-sample quality improvements — when does it become production-ready?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12848"/>
            <a:ext cx="91440" cy="91440"/>
          </a:xfrm>
          <a:prstGeom prst="rect">
            <a:avLst/>
          </a:prstGeom>
          <a:solidFill>
            <a:srgbClr val="2FD4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176272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000" b="0" i="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Linux adoption in music production — growing but still zero competitor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560320"/>
            <a:ext cx="11155680" cy="1828800"/>
          </a:xfrm>
          <a:prstGeom prst="roundRect">
            <a:avLst/>
          </a:prstGeom>
          <a:solidFill>
            <a:srgbClr val="0E1A1C"/>
          </a:solidFill>
          <a:ln w="12700">
            <a:solidFill>
              <a:srgbClr val="2FD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65176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100" b="1" i="0">
                <a:solidFill>
                  <a:srgbClr val="2FD4C2"/>
                </a:solidFill>
                <a:latin typeface="/Users/julian/Downloads/librebase-fonts/Orbitron.ttf"/>
              </a:defRPr>
            </a:pPr>
            <a:r>
              <a:t>THE LIBREBASE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880360"/>
            <a:ext cx="10789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LibreBase is the open knowledge base and competitive intelligence platform.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It's the tool you point at a messy pile of market research, competitor intel,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structured data, and org knowledge and turn it into something a team can actually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use — without handing the keys to a vendor.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For the sample library market: an open, vendor-neutral, DRM-free, perpetually-owned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alternative to Splice's walled garden. For the AI music tools market: a unifying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platform where generation, separation, editing, and MIDI converge — not a crediting game.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</a:p>
          <a:p>
            <a:pPr algn="l">
              <a:lnSpc>
                <a:spcPct val="130000"/>
              </a:lnSpc>
              <a:spcAft>
                <a:spcPts val="200"/>
              </a:spcAft>
              <a:defRPr sz="950">
                <a:solidFill>
                  <a:srgbClr val="E7F2EC"/>
                </a:solidFill>
                <a:latin typeface="/Users/julian/Downloads/librebase-fonts/SpaceGrotesk.ttf"/>
              </a:defRPr>
            </a:pPr>
            <a:r>
              <a:t>librebase.xyz  |  app.librebase.xyz  |  The open knowledge base, owned by the people who use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700">
                <a:solidFill>
                  <a:srgbClr val="9BB0AA"/>
                </a:solidFill>
                <a:latin typeface="/Users/julian/Downloads/librebase-fonts/SpaceGrotesk.ttf"/>
              </a:defRPr>
            </a:pPr>
            <a:r>
              <a:t>Sources: Market Intelo, Dataintelo, Trustpilot, Reddit, MBW, official pricing pages (Splice/Loopcloud/Tracklib/Spitfire/NI/Output/Heavyocity/Cinesamples/8Dio/Embertone/Orchestral Tools/EastWest), Vi-Control, KVR Audio, Gearspace, Attack Magazine, BandLab HC, MusicRadar, MusicTech, Adobe Podcast, Google Magenta, Samplab/RipX/Waves/Text-to-Sample/Loudly. Research consolidated August 16–18,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